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109728" cy="914400"/>
          </a:xfrm>
          <a:prstGeom prst="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65836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8580"/>
                </a:solidFill>
                <a:latin typeface="Aptos"/>
              </a:defRPr>
            </a:pPr>
            <a:r>
              <a:t>PUBLIC HEALTH • DATA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234440"/>
            <a:ext cx="65836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1A2B3A"/>
                </a:solidFill>
                <a:latin typeface="Aptos"/>
              </a:defRPr>
            </a:pPr>
            <a:r>
              <a:t>Where are Jakarta’s</a:t>
            </a:r>
            <a:br/>
            <a:r>
              <a:t>Puskesmas located?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63240"/>
            <a:ext cx="5760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0">
                <a:solidFill>
                  <a:srgbClr val="69757C"/>
                </a:solidFill>
                <a:latin typeface="Aptos"/>
              </a:defRPr>
            </a:pPr>
            <a:r>
              <a:t>An exploratory analysis of facility distribution, geographic coordinates, and data quality.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4251960"/>
            <a:ext cx="914400" cy="41148"/>
          </a:xfrm>
          <a:prstGeom prst="rect">
            <a:avLst/>
          </a:prstGeom>
          <a:solidFill>
            <a:srgbClr val="E0AB4C"/>
          </a:solidFill>
          <a:ln>
            <a:solidFill>
              <a:srgbClr val="E0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52628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A2B3A"/>
                </a:solidFill>
                <a:latin typeface="Aptos"/>
              </a:defRPr>
            </a:pPr>
            <a:r>
              <a:t>Satu Data Jakarta  |  Recorded period: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685800"/>
            <a:ext cx="4069080" cy="5166360"/>
          </a:xfrm>
          <a:prstGeom prst="roundRect">
            <a:avLst/>
          </a:prstGeom>
          <a:solidFill>
            <a:srgbClr val="DBEFEA"/>
          </a:solidFill>
          <a:ln>
            <a:solidFill>
              <a:srgbClr val="DB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9601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48580"/>
                </a:solidFill>
                <a:latin typeface="Aptos"/>
              </a:defRPr>
            </a:pPr>
            <a:r>
              <a:t>FACILITY DATA SNAPSHOT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691640"/>
            <a:ext cx="137160" cy="137160"/>
          </a:xfrm>
          <a:prstGeom prst="roundRect">
            <a:avLst/>
          </a:prstGeom>
          <a:solidFill>
            <a:srgbClr val="E0AB4C"/>
          </a:solidFill>
          <a:ln>
            <a:solidFill>
              <a:srgbClr val="E0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49640" y="1965960"/>
            <a:ext cx="137160" cy="137160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0" y="1508760"/>
            <a:ext cx="137160" cy="137160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0" y="2057400"/>
            <a:ext cx="137160" cy="137160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607040" y="1600200"/>
            <a:ext cx="137160" cy="137160"/>
          </a:xfrm>
          <a:prstGeom prst="roundRect">
            <a:avLst/>
          </a:prstGeom>
          <a:solidFill>
            <a:srgbClr val="E0AB4C"/>
          </a:solidFill>
          <a:ln>
            <a:solidFill>
              <a:srgbClr val="E0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2743200"/>
            <a:ext cx="137160" cy="137160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0" y="3017520"/>
            <a:ext cx="137160" cy="137160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38360" y="2651760"/>
            <a:ext cx="137160" cy="137160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61320" y="3154680"/>
            <a:ext cx="137160" cy="137160"/>
          </a:xfrm>
          <a:prstGeom prst="roundRect">
            <a:avLst/>
          </a:prstGeom>
          <a:solidFill>
            <a:srgbClr val="E0AB4C"/>
          </a:solidFill>
          <a:ln>
            <a:solidFill>
              <a:srgbClr val="E0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3840480"/>
            <a:ext cx="137160" cy="137160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0" y="4160520"/>
            <a:ext cx="137160" cy="137160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66960" y="3794760"/>
            <a:ext cx="137160" cy="137160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698480" y="4343400"/>
            <a:ext cx="137160" cy="137160"/>
          </a:xfrm>
          <a:prstGeom prst="roundRect">
            <a:avLst/>
          </a:prstGeom>
          <a:solidFill>
            <a:srgbClr val="E0AB4C"/>
          </a:solidFill>
          <a:ln>
            <a:solidFill>
              <a:srgbClr val="E0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78240" y="4800600"/>
            <a:ext cx="137160" cy="137160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0" y="4892040"/>
            <a:ext cx="137160" cy="137160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53492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A2B3A"/>
                </a:solidFill>
                <a:latin typeface="Aptos"/>
              </a:defRPr>
            </a:pPr>
            <a:r>
              <a:t>44 records • 6 administrative regions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6217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9757C"/>
                </a:solidFill>
                <a:latin typeface="Aptos"/>
              </a:defRPr>
            </a:pPr>
            <a:r>
              <a:t>Portfolio project  |  Python • Pandas •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91440" cy="566928"/>
          </a:xfrm>
          <a:prstGeom prst="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75488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48580"/>
                </a:solidFill>
                <a:latin typeface="Aptos"/>
              </a:defRPr>
            </a:pPr>
            <a:r>
              <a:t>01 / DATA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0467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A2B3A"/>
                </a:solidFill>
                <a:latin typeface="Aptos"/>
              </a:defRPr>
            </a:pPr>
            <a:r>
              <a:t>A snapshot of 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2646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69757C"/>
                </a:solidFill>
                <a:latin typeface="Aptos"/>
              </a:defRPr>
            </a:pPr>
            <a:r>
              <a:t>The file supports a descriptive snapshot—not a trend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6428232"/>
            <a:ext cx="10607040" cy="10972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10528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69757C"/>
                </a:solidFill>
                <a:latin typeface="Aptos"/>
              </a:defRPr>
            </a:pPr>
            <a:r>
              <a:t>PUBLIC HEALTH DATA • JAKARTA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69757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29260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48580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07792"/>
            <a:ext cx="2468880" cy="22860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906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A2B3A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69757C"/>
                </a:solidFill>
                <a:latin typeface="Aptos"/>
              </a:defRPr>
            </a:pPr>
            <a:r>
              <a:t>Rows in the supplied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48840"/>
            <a:ext cx="29260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A2B3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907792"/>
            <a:ext cx="2468880" cy="22860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0906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A2B3A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47472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69757C"/>
                </a:solidFill>
                <a:latin typeface="Aptos"/>
              </a:defRPr>
            </a:pPr>
            <a:r>
              <a:t>Facility, contact and coordinate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148840"/>
            <a:ext cx="29260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E0AB4C"/>
                </a:solidFill>
                <a:latin typeface="Aptos"/>
              </a:defRPr>
            </a:pPr>
            <a:r>
              <a:t>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2907792"/>
            <a:ext cx="2468880" cy="22860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30906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A2B3A"/>
                </a:solidFill>
                <a:latin typeface="Aptos"/>
              </a:defRPr>
            </a:pPr>
            <a:r>
              <a:t>RECORDED PERIOD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47472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69757C"/>
                </a:solidFill>
                <a:latin typeface="Aptos"/>
              </a:defRPr>
            </a:pPr>
            <a:r>
              <a:t>Single period in the 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617720"/>
            <a:ext cx="10378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4617720"/>
            <a:ext cx="50292" cy="960120"/>
          </a:xfrm>
          <a:prstGeom prst="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800600"/>
            <a:ext cx="99943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3A"/>
                </a:solidFill>
                <a:latin typeface="Aptos"/>
              </a:defRPr>
            </a:pPr>
            <a:r>
              <a:t>Analytical implication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221224"/>
            <a:ext cx="99943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9757C"/>
                </a:solidFill>
                <a:latin typeface="Aptos"/>
              </a:defRPr>
            </a:pPr>
            <a:r>
              <a:t>One recorded period means this file cannot establish year-over-year changes in facility counts.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91440" cy="566928"/>
          </a:xfrm>
          <a:prstGeom prst="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75488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48580"/>
                </a:solidFill>
                <a:latin typeface="Aptos"/>
              </a:defRPr>
            </a:pPr>
            <a:r>
              <a:t>02 / REGIONAL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0467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A2B3A"/>
                </a:solidFill>
                <a:latin typeface="Aptos"/>
              </a:defRPr>
            </a:pPr>
            <a:r>
              <a:t>Facility records differ by 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2646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69757C"/>
                </a:solidFill>
                <a:latin typeface="Aptos"/>
              </a:defRPr>
            </a:pPr>
            <a:r>
              <a:t>Counts describe records in the supplied dataset; they do not measure healthcare access.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6428232"/>
            <a:ext cx="10607040" cy="10972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10528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69757C"/>
                </a:solidFill>
                <a:latin typeface="Aptos"/>
              </a:defRPr>
            </a:pPr>
            <a:r>
              <a:t>PUBLIC HEALTH DATA • JAKARTA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69757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B3A"/>
                </a:solidFill>
                <a:latin typeface="Aptos"/>
              </a:defRPr>
            </a:pPr>
            <a:r>
              <a:t>East Jakarta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093976"/>
            <a:ext cx="5166360" cy="210312"/>
          </a:xfrm>
          <a:prstGeom prst="round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71800" y="2093976"/>
            <a:ext cx="5166360" cy="210312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03911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A2B3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03911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9757C"/>
                </a:solidFill>
                <a:latin typeface="Aptos"/>
              </a:defRPr>
            </a:pPr>
            <a:r>
              <a:t>22.7%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15184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A2B3A"/>
                </a:solidFill>
                <a:latin typeface="Aptos"/>
              </a:defRPr>
            </a:pPr>
            <a:r>
              <a:t>South Jakarta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2651760"/>
            <a:ext cx="5166360" cy="210312"/>
          </a:xfrm>
          <a:prstGeom prst="round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71800" y="2651760"/>
            <a:ext cx="5166360" cy="210312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596896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A2B3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596896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9757C"/>
                </a:solidFill>
                <a:latin typeface="Aptos"/>
              </a:defRPr>
            </a:pPr>
            <a:r>
              <a:t>22.7%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72968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A2B3A"/>
                </a:solidFill>
                <a:latin typeface="Aptos"/>
              </a:defRPr>
            </a:pPr>
            <a:r>
              <a:t>Central Jakarta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3209544"/>
            <a:ext cx="5166360" cy="210312"/>
          </a:xfrm>
          <a:prstGeom prst="round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209544"/>
            <a:ext cx="4133088" cy="210312"/>
          </a:xfrm>
          <a:prstGeom prst="roundRect">
            <a:avLst/>
          </a:prstGeom>
          <a:solidFill>
            <a:srgbClr val="1A2B3A"/>
          </a:solidFill>
          <a:ln>
            <a:solidFill>
              <a:srgbClr val="1A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154679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A2B3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15467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9757C"/>
                </a:solidFill>
                <a:latin typeface="Aptos"/>
              </a:defRPr>
            </a:pPr>
            <a:r>
              <a:t>18.2%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30752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A2B3A"/>
                </a:solidFill>
                <a:latin typeface="Aptos"/>
              </a:defRPr>
            </a:pPr>
            <a:r>
              <a:t>West Jakarta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3767328"/>
            <a:ext cx="5166360" cy="210312"/>
          </a:xfrm>
          <a:prstGeom prst="round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971800" y="3767328"/>
            <a:ext cx="4133088" cy="210312"/>
          </a:xfrm>
          <a:prstGeom prst="roundRect">
            <a:avLst/>
          </a:prstGeom>
          <a:solidFill>
            <a:srgbClr val="1A2B3A"/>
          </a:solidFill>
          <a:ln>
            <a:solidFill>
              <a:srgbClr val="1A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712464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A2B3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71246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9757C"/>
                </a:solidFill>
                <a:latin typeface="Aptos"/>
              </a:defRPr>
            </a:pPr>
            <a:r>
              <a:t>18.2%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288536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A2B3A"/>
                </a:solidFill>
                <a:latin typeface="Aptos"/>
              </a:defRPr>
            </a:pPr>
            <a:r>
              <a:t>North Jakarta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4325112"/>
            <a:ext cx="5166360" cy="210312"/>
          </a:xfrm>
          <a:prstGeom prst="round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71800" y="4325112"/>
            <a:ext cx="3099816" cy="210312"/>
          </a:xfrm>
          <a:prstGeom prst="roundRect">
            <a:avLst/>
          </a:prstGeom>
          <a:solidFill>
            <a:srgbClr val="1A2B3A"/>
          </a:solidFill>
          <a:ln>
            <a:solidFill>
              <a:srgbClr val="1A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4270248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A2B3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27024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9757C"/>
                </a:solidFill>
                <a:latin typeface="Aptos"/>
              </a:defRPr>
            </a:pPr>
            <a:r>
              <a:t>13.6%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84632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A2B3A"/>
                </a:solidFill>
                <a:latin typeface="Aptos"/>
              </a:defRPr>
            </a:pPr>
            <a:r>
              <a:t>Thousand Islands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71800" y="4882896"/>
            <a:ext cx="5166360" cy="210312"/>
          </a:xfrm>
          <a:prstGeom prst="round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971800" y="4882896"/>
            <a:ext cx="1033272" cy="210312"/>
          </a:xfrm>
          <a:prstGeom prst="roundRect">
            <a:avLst/>
          </a:prstGeom>
          <a:solidFill>
            <a:srgbClr val="1A2B3A"/>
          </a:solidFill>
          <a:ln>
            <a:solidFill>
              <a:srgbClr val="1A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482803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A2B3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482803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9757C"/>
                </a:solidFill>
                <a:latin typeface="Aptos"/>
              </a:defRPr>
            </a:pPr>
            <a:r>
              <a:t>4.5%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95560" y="2057400"/>
            <a:ext cx="1097280" cy="3291840"/>
          </a:xfrm>
          <a:prstGeom prst="roundRect">
            <a:avLst/>
          </a:prstGeom>
          <a:solidFill>
            <a:srgbClr val="DBEFEA"/>
          </a:solidFill>
          <a:ln>
            <a:solidFill>
              <a:srgbClr val="DB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60152" y="237744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48580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14432" y="2999232"/>
            <a:ext cx="868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A2B3A"/>
                </a:solidFill>
                <a:latin typeface="Aptos"/>
              </a:defRPr>
            </a:pPr>
            <a:r>
              <a:t>total</a:t>
            </a:r>
            <a:br/>
            <a:r>
              <a:t>records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14432" y="4069080"/>
            <a:ext cx="868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9757C"/>
                </a:solidFill>
                <a:latin typeface="Aptos"/>
              </a:defRPr>
            </a:pPr>
            <a:r>
              <a:t>Counts</a:t>
            </a:r>
            <a:br/>
            <a:r>
              <a:t>only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715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8580"/>
                </a:solidFill>
                <a:latin typeface="Aptos"/>
              </a:defRPr>
            </a:pPr>
            <a:r>
              <a:t>Readout: East and South Jakarta have 10 records each; Thousand Islands has 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91440" cy="566928"/>
          </a:xfrm>
          <a:prstGeom prst="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75488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48580"/>
                </a:solidFill>
                <a:latin typeface="Aptos"/>
              </a:defRPr>
            </a:pPr>
            <a:r>
              <a:t>03 / SPATIAL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0467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A2B3A"/>
                </a:solidFill>
                <a:latin typeface="Aptos"/>
              </a:defRPr>
            </a:pPr>
            <a:r>
              <a:t>What can the coordinates tell 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2646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69757C"/>
                </a:solidFill>
                <a:latin typeface="Aptos"/>
              </a:defRPr>
            </a:pPr>
            <a:r>
              <a:t>Coordinates enable location-level exploration, but not a direct measure of travel accessibility.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6428232"/>
            <a:ext cx="10607040" cy="10972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10528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69757C"/>
                </a:solidFill>
                <a:latin typeface="Aptos"/>
              </a:defRPr>
            </a:pPr>
            <a:r>
              <a:t>PUBLIC HEALTH DATA • JAKARTA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69757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20240"/>
            <a:ext cx="5852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0" y="2103120"/>
            <a:ext cx="10972" cy="3200400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0" y="2103120"/>
            <a:ext cx="10972" cy="3200400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2103120"/>
            <a:ext cx="10972" cy="3200400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10972" cy="3200400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2103120"/>
            <a:ext cx="10972" cy="3200400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10972" cy="3200400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2560320"/>
            <a:ext cx="5440680" cy="10972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3108960"/>
            <a:ext cx="5440680" cy="10972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657600"/>
            <a:ext cx="5440680" cy="10972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51560" y="4206240"/>
            <a:ext cx="5440680" cy="10972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1560" y="4754880"/>
            <a:ext cx="5440680" cy="10972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5303520"/>
            <a:ext cx="5440680" cy="10972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45920" y="2743200"/>
            <a:ext cx="109728" cy="109728"/>
          </a:xfrm>
          <a:prstGeom prst="roundRect">
            <a:avLst/>
          </a:prstGeom>
          <a:solidFill>
            <a:srgbClr val="E0AB4C"/>
          </a:solidFill>
          <a:ln>
            <a:solidFill>
              <a:srgbClr val="E0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86000" y="3474720"/>
            <a:ext cx="109728" cy="109728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26080" y="2834640"/>
            <a:ext cx="109728" cy="109728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931920" y="3931920"/>
            <a:ext cx="109728" cy="109728"/>
          </a:xfrm>
          <a:prstGeom prst="roundRect">
            <a:avLst/>
          </a:prstGeom>
          <a:solidFill>
            <a:srgbClr val="E0AB4C"/>
          </a:solidFill>
          <a:ln>
            <a:solidFill>
              <a:srgbClr val="E0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0" y="3017520"/>
            <a:ext cx="109728" cy="109728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77840" y="4297680"/>
            <a:ext cx="109728" cy="109728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920240" y="4663440"/>
            <a:ext cx="109728" cy="109728"/>
          </a:xfrm>
          <a:prstGeom prst="roundRect">
            <a:avLst/>
          </a:prstGeom>
          <a:solidFill>
            <a:srgbClr val="E0AB4C"/>
          </a:solidFill>
          <a:ln>
            <a:solidFill>
              <a:srgbClr val="E0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83280" y="4937760"/>
            <a:ext cx="109728" cy="109728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89120" y="2468880"/>
            <a:ext cx="109728" cy="109728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303520" y="4937760"/>
            <a:ext cx="109728" cy="109728"/>
          </a:xfrm>
          <a:prstGeom prst="roundRect">
            <a:avLst/>
          </a:prstGeom>
          <a:solidFill>
            <a:srgbClr val="E0AB4C"/>
          </a:solidFill>
          <a:ln>
            <a:solidFill>
              <a:srgbClr val="E0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43200" y="4206240"/>
            <a:ext cx="109728" cy="109728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06240" y="3383280"/>
            <a:ext cx="109728" cy="109728"/>
          </a:xfrm>
          <a:prstGeom prst="round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166360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69757C"/>
                </a:solidFill>
                <a:latin typeface="Aptos"/>
              </a:defRPr>
            </a:pPr>
            <a:r>
              <a:t>SCHEMATIC ONLY — replace with actual coordinate plot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1965960"/>
            <a:ext cx="4069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86600" y="1965960"/>
            <a:ext cx="50292" cy="1005840"/>
          </a:xfrm>
          <a:prstGeom prst="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2148840"/>
            <a:ext cx="36850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3A"/>
                </a:solidFill>
                <a:latin typeface="Aptos"/>
              </a:defRPr>
            </a:pPr>
            <a:r>
              <a:t>Can explore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2569464"/>
            <a:ext cx="3685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9757C"/>
                </a:solidFill>
                <a:latin typeface="Aptos"/>
              </a:defRPr>
            </a:pPr>
            <a:r>
              <a:t>Relative location patterns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3246120"/>
            <a:ext cx="4069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86600" y="3246120"/>
            <a:ext cx="50292" cy="1005840"/>
          </a:xfrm>
          <a:prstGeom prst="rect">
            <a:avLst/>
          </a:prstGeom>
          <a:solidFill>
            <a:srgbClr val="E0AB4C"/>
          </a:solidFill>
          <a:ln>
            <a:solidFill>
              <a:srgbClr val="E0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3429000"/>
            <a:ext cx="36850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3A"/>
                </a:solidFill>
                <a:latin typeface="Aptos"/>
              </a:defRPr>
            </a:pPr>
            <a:r>
              <a:t>Cannot conclude yet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3849624"/>
            <a:ext cx="3685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9757C"/>
                </a:solidFill>
                <a:latin typeface="Aptos"/>
              </a:defRPr>
            </a:pPr>
            <a:r>
              <a:t>Actual accessibility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86600" y="4526280"/>
            <a:ext cx="4069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86600" y="4526280"/>
            <a:ext cx="50292" cy="1005840"/>
          </a:xfrm>
          <a:prstGeom prst="rect">
            <a:avLst/>
          </a:prstGeom>
          <a:solidFill>
            <a:srgbClr val="1A2B3A"/>
          </a:solidFill>
          <a:ln>
            <a:solidFill>
              <a:srgbClr val="1A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9480" y="4709160"/>
            <a:ext cx="36850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3A"/>
                </a:solidFill>
                <a:latin typeface="Aptos"/>
              </a:defRPr>
            </a:pPr>
            <a:r>
              <a:t>Next data needed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5129784"/>
            <a:ext cx="3685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9757C"/>
                </a:solidFill>
                <a:latin typeface="Aptos"/>
              </a:defRPr>
            </a:pPr>
            <a:r>
              <a:t>Population + boundaries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28163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9757C"/>
                </a:solidFill>
                <a:latin typeface="Aptos"/>
              </a:defRPr>
            </a:pPr>
            <a:r>
              <a:t>Plot longitude against latitude or map points.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4096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9757C"/>
                </a:solidFill>
                <a:latin typeface="Aptos"/>
              </a:defRPr>
            </a:pPr>
            <a:r>
              <a:t>No travel time, road network, or population coverage.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53766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9757C"/>
                </a:solidFill>
                <a:latin typeface="Aptos"/>
              </a:defRPr>
            </a:pPr>
            <a:r>
              <a:t>Join compatible population and boundary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91440" cy="566928"/>
          </a:xfrm>
          <a:prstGeom prst="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75488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48580"/>
                </a:solidFill>
                <a:latin typeface="Aptos"/>
              </a:defRPr>
            </a:pPr>
            <a:r>
              <a:t>04 / QUALITY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0467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A2B3A"/>
                </a:solidFill>
                <a:latin typeface="Aptos"/>
              </a:defRPr>
            </a:pPr>
            <a:r>
              <a:t>Data quality is part of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2646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69757C"/>
                </a:solidFill>
                <a:latin typeface="Aptos"/>
              </a:defRPr>
            </a:pPr>
            <a:r>
              <a:t>A dataset can be complete in appearance while still containing inconsistent or unverified information.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6428232"/>
            <a:ext cx="10607040" cy="10972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10528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69757C"/>
                </a:solidFill>
                <a:latin typeface="Aptos"/>
              </a:defRPr>
            </a:pPr>
            <a:r>
              <a:t>PUBLIC HEALTH DATA • JAKARTA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69757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116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011680"/>
            <a:ext cx="50292" cy="1417320"/>
          </a:xfrm>
          <a:prstGeom prst="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94560"/>
            <a:ext cx="28620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3A"/>
                </a:solidFill>
                <a:latin typeface="Aptos"/>
              </a:defRPr>
            </a:pPr>
            <a:r>
              <a:t>Record integrity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15184"/>
            <a:ext cx="28620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9757C"/>
                </a:solidFill>
                <a:latin typeface="Aptos"/>
              </a:defRPr>
            </a:pPr>
            <a:r>
              <a:t>Check duplicate IDs and names. Confirm the unit of analysis before deduplicating.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0116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011680"/>
            <a:ext cx="50292" cy="1417320"/>
          </a:xfrm>
          <a:prstGeom prst="rect">
            <a:avLst/>
          </a:prstGeom>
          <a:solidFill>
            <a:srgbClr val="1A2B3A"/>
          </a:solidFill>
          <a:ln>
            <a:solidFill>
              <a:srgbClr val="1A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194560"/>
            <a:ext cx="28620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3A"/>
                </a:solidFill>
                <a:latin typeface="Aptos"/>
              </a:defRPr>
            </a:pPr>
            <a:r>
              <a:t>Coordinate validity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15184"/>
            <a:ext cx="28620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9757C"/>
                </a:solidFill>
                <a:latin typeface="Aptos"/>
              </a:defRPr>
            </a:pPr>
            <a:r>
              <a:t>Check ranges and map locations. Plausible coordinates should be verified geographically.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0116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2011680"/>
            <a:ext cx="50292" cy="1417320"/>
          </a:xfrm>
          <a:prstGeom prst="rect">
            <a:avLst/>
          </a:prstGeom>
          <a:solidFill>
            <a:srgbClr val="E0AB4C"/>
          </a:solidFill>
          <a:ln>
            <a:solidFill>
              <a:srgbClr val="E0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194560"/>
            <a:ext cx="28620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3A"/>
                </a:solidFill>
                <a:latin typeface="Aptos"/>
              </a:defRPr>
            </a:pPr>
            <a:r>
              <a:t>Contact formatting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615184"/>
            <a:ext cx="28620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9757C"/>
                </a:solidFill>
                <a:latin typeface="Aptos"/>
              </a:defRPr>
            </a:pPr>
            <a:r>
              <a:t>Review email and website fields. Format checks do not prove an address is active.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160520"/>
            <a:ext cx="10378440" cy="1005840"/>
          </a:xfrm>
          <a:prstGeom prst="roundRect">
            <a:avLst/>
          </a:prstGeom>
          <a:solidFill>
            <a:srgbClr val="EDF3F2"/>
          </a:solidFill>
          <a:ln>
            <a:solidFill>
              <a:srgbClr val="ED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37083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8580"/>
                </a:solidFill>
                <a:latin typeface="Aptos"/>
              </a:defRPr>
            </a:pPr>
            <a:r>
              <a:t>REPORTING PRINCIPLE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70916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A2B3A"/>
                </a:solidFill>
                <a:latin typeface="Aptos"/>
              </a:defRPr>
            </a:pPr>
            <a:r>
              <a:t>Separate verified findings from flags that require manual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91440" cy="566928"/>
          </a:xfrm>
          <a:prstGeom prst="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75488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148580"/>
                </a:solidFill>
                <a:latin typeface="Aptos"/>
              </a:defRPr>
            </a:pPr>
            <a:r>
              <a:t>05 / INTERPRETATION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0467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A2B3A"/>
                </a:solidFill>
                <a:latin typeface="Aptos"/>
              </a:defRPr>
            </a:pPr>
            <a:r>
              <a:t>From facility counts to access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26464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69757C"/>
                </a:solidFill>
                <a:latin typeface="Aptos"/>
              </a:defRPr>
            </a:pPr>
            <a:r>
              <a:t>The current file establishes a starting point for exploration—not a conclusion about equity.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6428232"/>
            <a:ext cx="10607040" cy="10972"/>
          </a:xfrm>
          <a:prstGeom prst="rect">
            <a:avLst/>
          </a:prstGeom>
          <a:solidFill>
            <a:srgbClr val="DAE0D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10528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69757C"/>
                </a:solidFill>
                <a:latin typeface="Aptos"/>
              </a:defRPr>
            </a:pPr>
            <a:r>
              <a:t>PUBLIC HEALTH DATA • JAKARTA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69757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2024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920240"/>
            <a:ext cx="50292" cy="1417320"/>
          </a:xfrm>
          <a:prstGeom prst="rect">
            <a:avLst/>
          </a:prstGeom>
          <a:solidFill>
            <a:srgbClr val="148580"/>
          </a:solidFill>
          <a:ln>
            <a:solidFill>
              <a:srgbClr val="14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03120"/>
            <a:ext cx="28620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3A"/>
                </a:solidFill>
                <a:latin typeface="Aptos"/>
              </a:defRPr>
            </a:pPr>
            <a:r>
              <a:t>What we know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23744"/>
            <a:ext cx="28620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9757C"/>
                </a:solidFill>
                <a:latin typeface="Aptos"/>
              </a:defRPr>
            </a:pPr>
            <a:r>
              <a:t>Regional record counts differ. This is a descriptive finding.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92024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920240"/>
            <a:ext cx="50292" cy="1417320"/>
          </a:xfrm>
          <a:prstGeom prst="rect">
            <a:avLst/>
          </a:prstGeom>
          <a:solidFill>
            <a:srgbClr val="1A2B3A"/>
          </a:solidFill>
          <a:ln>
            <a:solidFill>
              <a:srgbClr val="1A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103120"/>
            <a:ext cx="28620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3A"/>
                </a:solidFill>
                <a:latin typeface="Aptos"/>
              </a:defRPr>
            </a:pPr>
            <a:r>
              <a:t>What we do not know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523744"/>
            <a:ext cx="28620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9757C"/>
                </a:solidFill>
                <a:latin typeface="Aptos"/>
              </a:defRPr>
            </a:pPr>
            <a:r>
              <a:t>Whether supply meets need. Population and service capacity are missing.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92024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920240"/>
            <a:ext cx="50292" cy="1417320"/>
          </a:xfrm>
          <a:prstGeom prst="rect">
            <a:avLst/>
          </a:prstGeom>
          <a:solidFill>
            <a:srgbClr val="E0AB4C"/>
          </a:solidFill>
          <a:ln>
            <a:solidFill>
              <a:srgbClr val="E0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103120"/>
            <a:ext cx="28620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3A"/>
                </a:solidFill>
                <a:latin typeface="Aptos"/>
              </a:defRPr>
            </a:pPr>
            <a:r>
              <a:t>What to add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523744"/>
            <a:ext cx="28620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9757C"/>
                </a:solidFill>
                <a:latin typeface="Aptos"/>
              </a:defRPr>
            </a:pPr>
            <a:r>
              <a:t>Population and travel data. Add compatible boundaries and travel-time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069080"/>
            <a:ext cx="10378440" cy="1005840"/>
          </a:xfrm>
          <a:prstGeom prst="roundRect">
            <a:avLst/>
          </a:prstGeom>
          <a:solidFill>
            <a:srgbClr val="1A2B3A"/>
          </a:solidFill>
          <a:ln>
            <a:solidFill>
              <a:srgbClr val="1A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27939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9EDED5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61772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Facility counts are a starting point. Equitable access requires evidence about population, capacity and geography.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48640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9757C"/>
                </a:solidFill>
                <a:latin typeface="Aptos"/>
              </a:defRPr>
            </a:pPr>
            <a:r>
              <a:t>Source: Satu Data Jakarta • Tools: Python, Pandas, Matplotlib, Seaborn • Notebook: [GitHub 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